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67" r:id="rId20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Manrope SemiBold"/>
      <p:regular r:id="rId17"/>
      <p:bold r:id="rId18"/>
    </p:embeddedFont>
    <p:embeddedFont>
      <p:font typeface="Manrope ExtraBold"/>
      <p:bold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font" Target="fonts/ManropeSemiBold-regular.fntdata"/><Relationship Id="rId18" Type="http://schemas.openxmlformats.org/officeDocument/2006/relationships/font" Target="fonts/ManropeSemiBold-bold.fntdata"/><Relationship Id="rId19" Type="http://schemas.openxmlformats.org/officeDocument/2006/relationships/font" Target="fonts/ManropeExtraBold-bold.fntdata"/><Relationship Id="rId20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e5dd6731f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e5dd6731f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e5dd6731f7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e5dd6731f7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e5dd6731f7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e5dd6731f7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e5dd6731f7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e5dd6731f7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5dd6731f7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e5dd6731f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5dd6731f7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e5dd6731f7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5dd6731f7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e5dd6731f7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5dd6731f7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e5dd6731f7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5dd6731f7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e5dd6731f7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e5dd6731f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e5dd6731f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background redro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311700" y="3065023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Name :  (your team)</a:t>
            </a:r>
            <a:endParaRPr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11705" y="3916185"/>
            <a:ext cx="85206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Problem Statement : Rank the top 100 of 100,000 candidates for one nuanced Senior AI Engineer JD with recruiter-grade judgment — not keyword matching — avoiding keyword-stuffer traps and ~80 planted honeypots.   Project: Lighthouse — a reasoning-first, explainable candidate ranker.</a:t>
            </a:r>
            <a:endParaRPr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11688" y="3472483"/>
            <a:ext cx="8520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Leader Name :</a:t>
            </a:r>
            <a:endParaRPr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62" name="Google Shape;62;p14" title="overlay redrob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480500" y="812600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The Problem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375600" y="1278512"/>
            <a:ext cx="8520600" cy="32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500"/>
              </a:spcAft>
              <a:buClr>
                <a:srgbClr val="7D45E0"/>
              </a:buClr>
              <a:buSzPts val="1365"/>
              <a:buFont typeface="Manrope SemiBold"/>
              <a:buNone/>
            </a:pPr>
            <a:r>
              <a:rPr sz="1200">
                <a:solidFill>
                  <a:srgbClr val="1F2A44"/>
                </a:solidFill>
              </a:rPr>
              <a:t>• 100,000 candidates; genuine Senior-AI-Engineer fits are rare — only 0.78% even have an AI-ish title.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>
              <a:spcAft>
                <a:spcPts val="500"/>
              </a:spcAft>
              <a:buNone/>
            </a:pPr>
            <a:r>
              <a:rPr sz="1200">
                <a:solidFill>
                  <a:srgbClr val="1F2A44"/>
                </a:solidFill>
              </a:rPr>
              <a:t>• Seeded traps: keyword-stuffers (an Accountant listing 9 AI skills), plain-language Tier-5s (real systems, no buzzwords), behavioral twins, and ~80 honeypots (subtly impossible profiles).</a:t>
            </a:r>
          </a:p>
          <a:p>
            <a:pPr>
              <a:spcAft>
                <a:spcPts val="500"/>
              </a:spcAft>
              <a:buNone/>
            </a:pPr>
            <a:r>
              <a:rPr sz="1200">
                <a:solidFill>
                  <a:srgbClr val="1F2A44"/>
                </a:solidFill>
              </a:rPr>
              <a:t>• The provided sample_submission ranks the stuffers #1–20 — the exact wrong answer. &gt;10% honeypots in the top-100 = disqualification.</a:t>
            </a:r>
          </a:p>
          <a:p>
            <a:pPr>
              <a:spcAft>
                <a:spcPts val="500"/>
              </a:spcAft>
              <a:buNone/>
            </a:pPr>
            <a:r>
              <a:rPr sz="1200">
                <a:solidFill>
                  <a:srgbClr val="1F2A44"/>
                </a:solidFill>
              </a:rPr>
              <a:t>• Scoring is NDCG@10-heavy: the top-10 must be right. The real task is reasoning about the gap between what the JD says and what it means.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480500" y="812600"/>
            <a:ext cx="24030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Solution Overview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375600" y="1278512"/>
            <a:ext cx="8520600" cy="32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500"/>
              </a:spcAft>
              <a:buClr>
                <a:srgbClr val="7D45E0"/>
              </a:buClr>
              <a:buSzPts val="1365"/>
              <a:buFont typeface="Manrope SemiBold"/>
              <a:buNone/>
            </a:pPr>
            <a:r>
              <a:rPr sz="1200">
                <a:solidFill>
                  <a:srgbClr val="1F2A44"/>
                </a:solidFill>
              </a:rPr>
              <a:t>• Lighthouse — an offline-LLM-augmented hybrid ranker: recruiter-grade, reasoning-first, fully explainable.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>
              <a:spcAft>
                <a:spcPts val="500"/>
              </a:spcAft>
              <a:buNone/>
            </a:pPr>
            <a:r>
              <a:rPr sz="1200">
                <a:solidFill>
                  <a:srgbClr val="1F2A44"/>
                </a:solidFill>
              </a:rPr>
              <a:t>• Five fit components (semantic + role-coherence + career-evidence + experience + skill-trust), gated by JD hard-negatives and a behavioral modifier, with honeypots zeroed.</a:t>
            </a:r>
          </a:p>
          <a:p>
            <a:pPr>
              <a:spcAft>
                <a:spcPts val="500"/>
              </a:spcAft>
              <a:buNone/>
            </a:pPr>
            <a:r>
              <a:rPr sz="1200">
                <a:solidFill>
                  <a:srgbClr val="1F2A44"/>
                </a:solidFill>
              </a:rPr>
              <a:t>• Reads career evidence &amp; semantics, not keywords — surfaces plain-language Tier-5s and sinks keyword-stuffers.</a:t>
            </a:r>
          </a:p>
          <a:p>
            <a:pPr>
              <a:spcAft>
                <a:spcPts val="500"/>
              </a:spcAft>
              <a:buNone/>
            </a:pPr>
            <a:r>
              <a:rPr sz="1200">
                <a:solidFill>
                  <a:srgbClr val="1F2A44"/>
                </a:solidFill>
              </a:rPr>
              <a:t>• Every pick ships a grounded, no-hallucination reason.</a:t>
            </a:r>
          </a:p>
          <a:p>
            <a:pPr>
              <a:spcAft>
                <a:spcPts val="500"/>
              </a:spcAft>
              <a:buNone/>
            </a:pPr>
            <a:r>
              <a:rPr sz="1200">
                <a:solidFill>
                  <a:srgbClr val="1F2A44"/>
                </a:solidFill>
              </a:rPr>
              <a:t>• CPU-only, &lt; 5 min, no API at rank-time — production-shaped, not a GPT-per-candidate demo.</a:t>
            </a:r>
          </a:p>
          <a:p>
            <a:pPr>
              <a:spcAft>
                <a:spcPts val="500"/>
              </a:spcAft>
              <a:buNone/>
            </a:pPr>
            <a:r>
              <a:rPr sz="1200">
                <a:solidFill>
                  <a:srgbClr val="1F2A44"/>
                </a:solidFill>
              </a:rPr>
              <a:t>• Live Discovery surface: paste JD prose → auto-facets (or preset chips), then look-alike search across the 100K — recruiter-grade exploration, not a static list.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JD Understanding &amp; Candidate Evaluatio</a:t>
            </a: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n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375600" y="1278496"/>
            <a:ext cx="8520600" cy="3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500"/>
              </a:spcAft>
              <a:buClr>
                <a:srgbClr val="7D45E0"/>
              </a:buClr>
              <a:buSzPts val="1365"/>
              <a:buFont typeface="Manrope SemiBold"/>
              <a:buNone/>
            </a:pPr>
            <a:r>
              <a:rPr sz="1200">
                <a:solidFill>
                  <a:srgbClr val="1F2A44"/>
                </a:solidFill>
              </a:rPr>
              <a:t>• Must-haves: production embeddings/retrieval, vector/hybrid search ops, ranking-eval (NDCG/MRR/MAP), strong Python. Ideal 6–8 yrs, 4–5 applied-ML at product (not services) cos, shipped a ranking/search/recsys system.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>
              <a:spcAft>
                <a:spcPts val="500"/>
              </a:spcAft>
              <a:buNone/>
            </a:pPr>
            <a:r>
              <a:rPr sz="1200">
                <a:solidFill>
                  <a:srgbClr val="1F2A44"/>
                </a:solidFill>
              </a:rPr>
              <a:t>• 8 hard-negative gates: services-only, outside-India &amp; won't-relocate (no visa), research-only, CV/speech-only w/o NLP, LangChain-only-recent, title-chasers, non-engineering current role, unbacked-expertise (≥5 expert-skill claims absent from every role — the stuffer trap). Dampen, don't annihilate.</a:t>
            </a:r>
          </a:p>
          <a:p>
            <a:pPr>
              <a:spcAft>
                <a:spcPts val="500"/>
              </a:spcAft>
              <a:buNone/>
            </a:pPr>
            <a:r>
              <a:rPr sz="1200">
                <a:solidFill>
                  <a:srgbClr val="1F2A44"/>
                </a:solidFill>
              </a:rPr>
              <a:t>• Signal priority: career-history evidence &gt; job title &gt; listed skills. Behavioral signals decide actual availability.</a:t>
            </a:r>
          </a:p>
          <a:p>
            <a:pPr>
              <a:spcAft>
                <a:spcPts val="500"/>
              </a:spcAft>
              <a:buNone/>
            </a:pPr>
            <a:r>
              <a:rPr sz="1200">
                <a:solidFill>
                  <a:srgbClr val="1F2A44"/>
                </a:solidFill>
              </a:rPr>
              <a:t>• Claude (offline) parsed the JD into a static committed rubric — read at rank-time with no API call.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6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Ranking Methodology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375600" y="1278496"/>
            <a:ext cx="8520600" cy="3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500"/>
              </a:spcAft>
              <a:buClr>
                <a:srgbClr val="7D45E0"/>
              </a:buClr>
              <a:buSzPts val="1365"/>
              <a:buFont typeface="Manrope SemiBold"/>
              <a:buNone/>
            </a:pPr>
            <a:r>
              <a:rPr sz="1200">
                <a:solidFill>
                  <a:srgbClr val="1F2A44"/>
                </a:solidFill>
              </a:rPr>
              <a:t>• Retrieve: precomputed bge-small embeddings over clean per-candidate text blobs (100K). (A BM25 lexical index is built offline — optional, not loaded at rank-time.)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>
              <a:spcAft>
                <a:spcPts val="500"/>
              </a:spcAft>
              <a:buNone/>
            </a:pPr>
            <a:r>
              <a:rPr sz="1200">
                <a:solidFill>
                  <a:srgbClr val="1F2A44"/>
                </a:solidFill>
              </a:rPr>
              <a:t>• Score, each in [0,1]: semantic_fit (cosine vs JD facets, top-4 blend), role_coherence (taxonomy+semantic), career_evidence (built ranking/search at product cos; recency-weighted, 4-yr half-life), experience_fit (soft 6–8 curve), trust_skills (proficiency×duration×endorsements×assessment, +AI/ML certs).</a:t>
            </a:r>
          </a:p>
          <a:p>
            <a:pPr>
              <a:spcAft>
                <a:spcPts val="500"/>
              </a:spcAft>
              <a:buNone/>
            </a:pPr>
            <a:r>
              <a:rPr sz="1200">
                <a:solidFill>
                  <a:srgbClr val="1F2A44"/>
                </a:solidFill>
              </a:rPr>
              <a:t>• Combine: weighted base (role_coherence 0.26 &amp; career_evidence 0.24 lead) × Π(8 gates) × behavioral modifier [0.80–1.12] (activity, response-rate, recruiter-saves/views, open-to-work lift); honeypots → 0.</a:t>
            </a:r>
          </a:p>
          <a:p>
            <a:pPr>
              <a:spcAft>
                <a:spcPts val="500"/>
              </a:spcAft>
              <a:buNone/>
            </a:pPr>
            <a:r>
              <a:rPr sz="1200">
                <a:solidFill>
                  <a:srgbClr val="1F2A44"/>
                </a:solidFill>
              </a:rPr>
              <a:t>• final = base × gates × behavior. Order by score desc; ties → candidate_id ascending; take top 100.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7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7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Explainability &amp; Data Validation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85" name="Google Shape;85;p17"/>
          <p:cNvSpPr txBox="1"/>
          <p:nvPr/>
        </p:nvSpPr>
        <p:spPr>
          <a:xfrm>
            <a:off x="375600" y="1278496"/>
            <a:ext cx="8520600" cy="3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500"/>
              </a:spcAft>
              <a:buClr>
                <a:srgbClr val="7D45E0"/>
              </a:buClr>
              <a:buSzPts val="1365"/>
              <a:buFont typeface="Manrope SemiBold"/>
              <a:buNone/>
            </a:pPr>
            <a:r>
              <a:rPr sz="1200">
                <a:solidFill>
                  <a:srgbClr val="1F2A44"/>
                </a:solidFill>
              </a:rPr>
              <a:t>• Deterministic, fact-grounded reasoning per candidate — cites real years, title, named skills, employers, signal values, and names honest gaps (e.g., '120-day notice; Toronto-based — relocation risk').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>
              <a:spcAft>
                <a:spcPts val="500"/>
              </a:spcAft>
              <a:buNone/>
            </a:pPr>
            <a:r>
              <a:rPr sz="1200">
                <a:solidFill>
                  <a:srgbClr val="1F2A44"/>
                </a:solidFill>
              </a:rPr>
              <a:t>• Zero hallucination: every term traces to the candidate's own profile (enforced by tests). Variation by dominant factor; tone tracks the rank band.</a:t>
            </a:r>
          </a:p>
          <a:p>
            <a:pPr>
              <a:spcAft>
                <a:spcPts val="500"/>
              </a:spcAft>
              <a:buNone/>
            </a:pPr>
            <a:r>
              <a:rPr sz="1200">
                <a:solidFill>
                  <a:srgbClr val="1F2A44"/>
                </a:solidFill>
              </a:rPr>
              <a:t>• Honeypot/anomaly detector (explainable rules): ≥3 advanced/expert skills with 0 months, date contradictions, tenure overflowing experience, invalid education — flags 0.042% of the pool, no false positives on real profiles.</a:t>
            </a:r>
          </a:p>
          <a:p>
            <a:pPr>
              <a:spcAft>
                <a:spcPts val="500"/>
              </a:spcAft>
              <a:buNone/>
            </a:pPr>
            <a:r>
              <a:rPr sz="1200">
                <a:solidFill>
                  <a:srgbClr val="1F2A44"/>
                </a:solidFill>
              </a:rPr>
              <a:t>• Schema-tolerant parsing; sentinels (-1 github/offer, empty assessments — 60–76% of pool) treated as neutral, never penalized. Fully seeded/deterministic.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8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8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End-to-End Workflow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92" name="Google Shape;92;p18"/>
          <p:cNvSpPr txBox="1"/>
          <p:nvPr/>
        </p:nvSpPr>
        <p:spPr>
          <a:xfrm>
            <a:off x="375600" y="1278496"/>
            <a:ext cx="8520600" cy="3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500"/>
              </a:spcAft>
              <a:buClr>
                <a:srgbClr val="7D45E0"/>
              </a:buClr>
              <a:buSzPts val="1365"/>
              <a:buFont typeface="Manrope SemiBold"/>
              <a:buNone/>
            </a:pPr>
            <a:r>
              <a:rPr sz="1200">
                <a:solidFill>
                  <a:srgbClr val="1F2A44"/>
                </a:solidFill>
              </a:rPr>
              <a:t>• Phase 1 — Offline precompute (network OK, no time limit): JD →(Claude)→ jd_rubric.json; candidates → text blobs → bge-small embeddings (fp16) + BM25; Claude → eval labels. Artifacts committed.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>
              <a:spcAft>
                <a:spcPts val="500"/>
              </a:spcAft>
              <a:buNone/>
            </a:pPr>
            <a:r>
              <a:rPr sz="1200">
                <a:solidFill>
                  <a:srgbClr val="1F2A44"/>
                </a:solidFill>
              </a:rPr>
              <a:t>• Phase 2 — Rank-time (CPU, no network, &lt; 5 min): load artifacts → score 5 components → gates × behavioral → honeypot zero → sort/tie-break → top-100 → grounded reasoning → submission.csv.</a:t>
            </a:r>
          </a:p>
          <a:p>
            <a:pPr>
              <a:spcAft>
                <a:spcPts val="500"/>
              </a:spcAft>
              <a:buNone/>
            </a:pPr>
            <a:r>
              <a:rPr sz="1200">
                <a:solidFill>
                  <a:srgbClr val="1F2A44"/>
                </a:solidFill>
              </a:rPr>
              <a:t>• Single reproduce command: python rank.py --candidates ./data/candidates.jsonl --out ./submission.csv → passes the official validator.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9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9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System Architecture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pic>
        <p:nvPicPr>
          <p:cNvPr id="99" name="Picture 98" descr="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1371600"/>
            <a:ext cx="8503920" cy="449681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20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0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Results &amp; Performance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05" name="Google Shape;105;p20"/>
          <p:cNvSpPr txBox="1"/>
          <p:nvPr/>
        </p:nvSpPr>
        <p:spPr>
          <a:xfrm>
            <a:off x="375600" y="1278496"/>
            <a:ext cx="8520600" cy="3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500"/>
              </a:spcAft>
              <a:buClr>
                <a:srgbClr val="7D45E0"/>
              </a:buClr>
              <a:buSzPts val="1365"/>
              <a:buFont typeface="Manrope SemiBold"/>
              <a:buNone/>
            </a:pPr>
            <a:r>
              <a:rPr sz="1200">
                <a:solidFill>
                  <a:srgbClr val="1F2A44"/>
                </a:solidFill>
              </a:rPr>
              <a:t>• Label-INDEPENDENT evidence (no trust in our labels needed):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>
              <a:spcAft>
                <a:spcPts val="500"/>
              </a:spcAft>
              <a:buNone/>
            </a:pPr>
            <a:r>
              <a:rPr sz="1100">
                <a:solidFill>
                  <a:srgbClr val="1F2A44"/>
                </a:solidFill>
              </a:rPr>
              <a:t>    – 0 honeypots in the top-100 (audited over full 100K; DQ threshold &gt;10%). All 100/100 hold an AI/ML/IR/DS/Search/NLP title — 0 non-technical; the sample_submission instead ranks HR/Accountants at #1–20.</a:t>
            </a:r>
          </a:p>
          <a:p>
            <a:pPr>
              <a:spcAft>
                <a:spcPts val="500"/>
              </a:spcAft>
              <a:buNone/>
            </a:pPr>
            <a:r>
              <a:rPr sz="1100">
                <a:solidFill>
                  <a:srgbClr val="1F2A44"/>
                </a:solidFill>
              </a:rPr>
              <a:t>    – Trap resistance: the keyword baseline puts 13/32 keyword-stuffers in its top-25; Lighthouse admits 0. Remove the anti-trap stack and honeypots climb (median rank 209→143).</a:t>
            </a:r>
          </a:p>
          <a:p>
            <a:pPr>
              <a:spcAft>
                <a:spcPts val="500"/>
              </a:spcAft>
              <a:buNone/>
            </a:pPr>
            <a:r>
              <a:rPr sz="1100">
                <a:solidFill>
                  <a:srgbClr val="1F2A44"/>
                </a:solidFill>
              </a:rPr>
              <a:t>    – Stress-test demo (sample of 100, ~half real engineers + ~half traps): top 10 = 10/10 AI engineers; non-technical profiles carry a NON-TECHNICAL badge and score 0.005–0.025 (40–200× below top); honeypots score 0.0 and rank last. The submission claims above are the 100K → 100 run; the demo is a visualization of how gates work.</a:t>
            </a:r>
          </a:p>
          <a:p>
            <a:pPr>
              <a:spcAft>
                <a:spcPts val="500"/>
              </a:spcAft>
              <a:buNone/>
            </a:pPr>
            <a:r>
              <a:rPr sz="1200">
                <a:solidFill>
                  <a:srgbClr val="1F2A44"/>
                </a:solidFill>
              </a:rPr>
              <a:t>• Directional only (self-labeled — NOT absolute accuracy): vs keyword baseline composite 0.998 vs 0.553. Labeler &amp; ranker share assumptions, so a ~perfect NDCG@10 = internal consistency, not validated accuracy — the gap + ablation deltas are the signal. A blind human-label harness ships for an independent check.</a:t>
            </a:r>
          </a:p>
          <a:p>
            <a:pPr>
              <a:spcAft>
                <a:spcPts val="500"/>
              </a:spcAft>
              <a:buNone/>
            </a:pPr>
            <a:r>
              <a:rPr sz="1200">
                <a:solidFill>
                  <a:srgbClr val="1F2A44"/>
                </a:solidFill>
              </a:rPr>
              <a:t>• Constraints met: rank step CPU-only, no network, ~45 s (well under the 5-min budget) over 100K; embeddings precomputed (~75 MB fp16); 127 tests green, lint+mypy clean.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1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1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rPr lang="en-GB">
                <a:solidFill>
                  <a:srgbClr val="202729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Technologies Used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12" name="Google Shape;112;p21"/>
          <p:cNvSpPr txBox="1"/>
          <p:nvPr/>
        </p:nvSpPr>
        <p:spPr>
          <a:xfrm>
            <a:off x="375600" y="1278496"/>
            <a:ext cx="8520600" cy="3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5278" lvl="0" marL="457200" rtl="0" algn="l">
              <a:lnSpc>
                <a:spcPct val="150000"/>
              </a:lnSpc>
              <a:spcBef>
                <a:spcPts val="0"/>
              </a:spcBef>
              <a:spcAft>
                <a:spcPts val="500"/>
              </a:spcAft>
              <a:buClr>
                <a:srgbClr val="7D45E0"/>
              </a:buClr>
              <a:buSzPts val="1365"/>
              <a:buFont typeface="Manrope SemiBold"/>
              <a:buNone/>
            </a:pPr>
            <a:r>
              <a:rPr sz="1200">
                <a:solidFill>
                  <a:srgbClr val="1F2A44"/>
                </a:solidFill>
              </a:rPr>
              <a:t>• sentence-transformers BAAI/bge-small-en-v1.5 — small, CPU-friendly, strong retrieval quality; precomputed so rank-time needs no model.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  <a:p>
            <a:pPr>
              <a:spcAft>
                <a:spcPts val="500"/>
              </a:spcAft>
              <a:buNone/>
            </a:pPr>
            <a:r>
              <a:rPr sz="1200">
                <a:solidFill>
                  <a:srgbClr val="1F2A44"/>
                </a:solidFill>
              </a:rPr>
              <a:t>• rank_bm25 — optional offline lexical index; precomputed but never loaded at rank-time (ranking is semantic + deterministic features).</a:t>
            </a:r>
          </a:p>
          <a:p>
            <a:pPr>
              <a:spcAft>
                <a:spcPts val="500"/>
              </a:spcAft>
              <a:buNone/>
            </a:pPr>
            <a:r>
              <a:rPr sz="1200">
                <a:solidFill>
                  <a:srgbClr val="1F2A44"/>
                </a:solidFill>
              </a:rPr>
              <a:t>• numpy / pandas — the entire rank step: fast, deterministic, dependency-light (fits the 5-min / 16 GB / CPU box).</a:t>
            </a:r>
          </a:p>
          <a:p>
            <a:pPr>
              <a:spcAft>
                <a:spcPts val="500"/>
              </a:spcAft>
              <a:buNone/>
            </a:pPr>
            <a:r>
              <a:rPr sz="1200">
                <a:solidFill>
                  <a:srgbClr val="1F2A44"/>
                </a:solidFill>
              </a:rPr>
              <a:t>• Claude (offline only) — JD→rubric parsing and eval labeling; never called at rank-time, no candidate data sent to any API.</a:t>
            </a:r>
          </a:p>
          <a:p>
            <a:pPr>
              <a:spcAft>
                <a:spcPts val="500"/>
              </a:spcAft>
              <a:buNone/>
            </a:pPr>
            <a:r>
              <a:rPr sz="1200">
                <a:solidFill>
                  <a:srgbClr val="1F2A44"/>
                </a:solidFill>
              </a:rPr>
              <a:t>• pytest (124 tests), FastAPI + vanilla JS/anime.js animated UI (HF Spaces sandbox), python-pptx + matplotlib (this deck).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2" title="overlay redrob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2"/>
          <p:cNvSpPr txBox="1"/>
          <p:nvPr/>
        </p:nvSpPr>
        <p:spPr>
          <a:xfrm>
            <a:off x="480500" y="812600"/>
            <a:ext cx="81216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SzPts val="935"/>
              <a:buNone/>
            </a:pPr>
            <a:r>
              <a:rPr sz="1200">
                <a:solidFill>
                  <a:srgbClr val="1F2A44"/>
                </a:solidFill>
              </a:rPr>
              <a:t>• GitHub: https://github.com/jacklachan/lighthouse-indiaruns</a:t>
            </a:r>
            <a:endParaRPr>
              <a:solidFill>
                <a:srgbClr val="202729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  <a:p>
            <a:pPr>
              <a:spcAft>
                <a:spcPts val="500"/>
              </a:spcAft>
              <a:buNone/>
            </a:pPr>
            <a:r>
              <a:rPr sz="1200">
                <a:solidFill>
                  <a:srgbClr val="1F2A44"/>
                </a:solidFill>
              </a:rPr>
              <a:t>• Live sandbox (HF Spaces): https://huggingface.co/spaces/Auenchanters/lighthouse</a:t>
            </a:r>
          </a:p>
          <a:p>
            <a:pPr>
              <a:spcAft>
                <a:spcPts val="500"/>
              </a:spcAft>
              <a:buNone/>
            </a:pPr>
            <a:r>
              <a:rPr sz="1200">
                <a:solidFill>
                  <a:srgbClr val="1F2A44"/>
                </a:solidFill>
              </a:rPr>
              <a:t>• Reproduce: pip install -r requirements.txt → python precompute.py → python rank.py → python validate_submission.py submission.csv</a:t>
            </a:r>
          </a:p>
          <a:p>
            <a:pPr>
              <a:spcAft>
                <a:spcPts val="500"/>
              </a:spcAft>
              <a:buNone/>
            </a:pPr>
            <a:r>
              <a:rPr sz="1200">
                <a:solidFill>
                  <a:srgbClr val="1F2A44"/>
                </a:solidFill>
              </a:rPr>
              <a:t>• Demo video: [placeholder — add link before submission]</a:t>
            </a:r>
          </a:p>
          <a:p>
            <a:pPr>
              <a:spcAft>
                <a:spcPts val="500"/>
              </a:spcAft>
              <a:buNone/>
            </a:pPr>
            <a:r>
              <a:rPr sz="1200">
                <a:solidFill>
                  <a:srgbClr val="1F2A44"/>
                </a:solidFill>
              </a:rPr>
              <a:t>• AI use: Claude offline for JD parsing + eval labeling + coding assistant; no candidate data hit any API at rank-time (see submission_metadata.yaml).</a:t>
            </a:r>
          </a:p>
        </p:txBody>
      </p:sp>
      <p:sp>
        <p:nvSpPr>
          <p:cNvPr id="119" name="Google Shape;119;p22"/>
          <p:cNvSpPr txBox="1"/>
          <p:nvPr/>
        </p:nvSpPr>
        <p:spPr>
          <a:xfrm>
            <a:off x="480500" y="1278500"/>
            <a:ext cx="7968600" cy="3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65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Github video etc</a:t>
            </a:r>
            <a:endParaRPr sz="1365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3" title="thank you slid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